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4" r:id="rId3"/>
    <p:sldId id="265" r:id="rId4"/>
    <p:sldId id="260" r:id="rId5"/>
    <p:sldId id="257" r:id="rId6"/>
    <p:sldId id="263" r:id="rId7"/>
  </p:sldIdLst>
  <p:sldSz cx="12192000" cy="6858000"/>
  <p:notesSz cx="6858000" cy="9144000"/>
  <p:embeddedFontLst>
    <p:embeddedFont>
      <p:font typeface="Bebas Neue" panose="020B0606020202050201" pitchFamily="34" charset="0"/>
      <p:regular r:id="rId9"/>
    </p:embeddedFont>
    <p:embeddedFont>
      <p:font typeface="Poppins" panose="000005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2l8lzuNDSRJJYLLe1IbgraTvB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101"/>
    <a:srgbClr val="0F0506"/>
    <a:srgbClr val="210C0F"/>
    <a:srgbClr val="C07E3E"/>
    <a:srgbClr val="864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414" autoAdjust="0"/>
  </p:normalViewPr>
  <p:slideViewPr>
    <p:cSldViewPr snapToGrid="0">
      <p:cViewPr varScale="1">
        <p:scale>
          <a:sx n="62" d="100"/>
          <a:sy n="62" d="100"/>
        </p:scale>
        <p:origin x="9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57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5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2" name="Google Shape;4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pt-BR" sz="1200" dirty="0"/>
              <a:t>As cafeterias da </a:t>
            </a:r>
            <a:r>
              <a:rPr lang="pt-BR" sz="1200" dirty="0" err="1"/>
              <a:t>XPBucks</a:t>
            </a:r>
            <a:r>
              <a:rPr lang="pt-BR" sz="1200" dirty="0"/>
              <a:t> estão presentes em São Paulo, Florianópolis e Rio de Janeiro. Elas oferecem um ambiente acolhedor, projetado para proporcionar uma experiência relaxante e envolvente aos clientes.</a:t>
            </a:r>
          </a:p>
          <a:p>
            <a:endParaRPr lang="pt-BR" sz="1200" dirty="0"/>
          </a:p>
          <a:p>
            <a:r>
              <a:rPr lang="pt-BR" sz="1200" dirty="0"/>
              <a:t>A </a:t>
            </a:r>
            <a:r>
              <a:rPr lang="pt-BR" sz="1200" dirty="0" err="1"/>
              <a:t>XPBucks</a:t>
            </a:r>
            <a:r>
              <a:rPr lang="pt-BR" sz="1200" dirty="0"/>
              <a:t> se destaca na venda de cafés premium em grãos, provenientes de regiões selecionadas para garantir a mais alta qualidade e também na venda de uma variedade de produtos como xícaras, filtros, máquinas de café e acessórios, para que os clientes possam reproduzir a experiência </a:t>
            </a:r>
            <a:r>
              <a:rPr lang="pt-BR" sz="1200" dirty="0" err="1"/>
              <a:t>XPBucks</a:t>
            </a:r>
            <a:r>
              <a:rPr lang="pt-BR" sz="1200" dirty="0"/>
              <a:t> em casa.</a:t>
            </a:r>
          </a:p>
          <a:p>
            <a:r>
              <a:rPr lang="pt-BR" sz="1200" dirty="0"/>
              <a:t>   </a:t>
            </a:r>
          </a:p>
          <a:p>
            <a:r>
              <a:rPr lang="pt-BR" sz="1200" dirty="0"/>
              <a:t>Além disso, a </a:t>
            </a:r>
            <a:r>
              <a:rPr lang="pt-BR" sz="1200" dirty="0" err="1"/>
              <a:t>XPBucks</a:t>
            </a:r>
            <a:r>
              <a:rPr lang="pt-BR" sz="1200" dirty="0"/>
              <a:t> também se destaca por sua abordagem inovadora no fornecimento de serviços corporativos. A empresa oferece soluções personalizadas para eventos e escritórios, atendendo às necessidades específicas de cada cliente. Seja um evento empresarial, uma conferência ou o café do dia a dia em escritórios, a </a:t>
            </a:r>
            <a:r>
              <a:rPr lang="pt-BR" sz="1200" dirty="0" err="1"/>
              <a:t>XPBucks</a:t>
            </a:r>
            <a:r>
              <a:rPr lang="pt-BR" sz="1200" dirty="0"/>
              <a:t> proporciona uma experiência única.</a:t>
            </a:r>
          </a:p>
          <a:p>
            <a:endParaRPr lang="pt-BR" sz="1200" dirty="0"/>
          </a:p>
          <a:p>
            <a:r>
              <a:rPr lang="pt-BR" sz="1200" dirty="0"/>
              <a:t>Café para Eventos Empresariais:</a:t>
            </a:r>
          </a:p>
          <a:p>
            <a:r>
              <a:rPr lang="pt-BR" sz="1200" dirty="0"/>
              <a:t>Equipe especializada que cria estações de café personalizadas para conferências, seminários e eventos corporativos.</a:t>
            </a:r>
          </a:p>
          <a:p>
            <a:r>
              <a:rPr lang="pt-BR" sz="1200" dirty="0"/>
              <a:t>Variedade de blends e métodos de preparo para atender aos gostos variados dos participantes.</a:t>
            </a:r>
          </a:p>
          <a:p>
            <a:endParaRPr lang="pt-BR" sz="1200" dirty="0"/>
          </a:p>
          <a:p>
            <a:r>
              <a:rPr lang="pt-BR" sz="1200" dirty="0"/>
              <a:t>Café para Escritórios:</a:t>
            </a:r>
          </a:p>
          <a:p>
            <a:r>
              <a:rPr lang="pt-BR" sz="1200" dirty="0"/>
              <a:t>Programa de cafés corporativos personalizados para empresas.</a:t>
            </a:r>
          </a:p>
          <a:p>
            <a:r>
              <a:rPr lang="pt-BR" sz="1200" dirty="0"/>
              <a:t>Entrega regular de grãos frescos, máquinas de café de alta qualidade e acessórios.</a:t>
            </a:r>
          </a:p>
          <a:p>
            <a:r>
              <a:rPr lang="pt-BR" sz="1200" dirty="0"/>
              <a:t>Treinamento para funcionários sobre métodos de preparo e apreciação de café.</a:t>
            </a:r>
            <a:endParaRPr dirty="0"/>
          </a:p>
        </p:txBody>
      </p:sp>
      <p:sp>
        <p:nvSpPr>
          <p:cNvPr id="153" name="Google Shape;15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8" name="Google Shape;4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8" name="Google Shape;4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1256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subTitle" idx="1"/>
          </p:nvPr>
        </p:nvSpPr>
        <p:spPr>
          <a:xfrm>
            <a:off x="1524000" y="390048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9" name="Google Shape;1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1524000" y="3486988"/>
            <a:ext cx="1955875" cy="11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0" descr="Texto, 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9369" y="6352995"/>
            <a:ext cx="1187585" cy="302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1_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1" name="Google Shape;3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415600" y="467577"/>
            <a:ext cx="1955875" cy="11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4" descr="Texto, 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9369" y="6352995"/>
            <a:ext cx="1187585" cy="302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8" name="Google Shape;3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307650" y="3620633"/>
            <a:ext cx="1955875" cy="11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5" descr="Texto, 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9369" y="6352995"/>
            <a:ext cx="1187585" cy="302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15600" y="64724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10C0F"/>
            </a:gs>
            <a:gs pos="74000">
              <a:srgbClr val="C07E3E"/>
            </a:gs>
            <a:gs pos="83000">
              <a:schemeClr val="accent1">
                <a:lumMod val="45000"/>
                <a:lumOff val="55000"/>
              </a:schemeClr>
            </a:gs>
            <a:gs pos="100000">
              <a:srgbClr val="864472"/>
            </a:gs>
          </a:gsLst>
          <a:lin ang="5400000" scaled="1"/>
        </a:gra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ctrTitle"/>
          </p:nvPr>
        </p:nvSpPr>
        <p:spPr>
          <a:xfrm>
            <a:off x="7081520" y="569912"/>
            <a:ext cx="402336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b="0" dirty="0">
                <a:latin typeface="Bebas Neue"/>
                <a:ea typeface="Bebas Neue"/>
                <a:cs typeface="Bebas Neue"/>
                <a:sym typeface="Bebas Neue"/>
              </a:rPr>
              <a:t>BRIEFING do projeto</a:t>
            </a:r>
            <a:endParaRPr b="0" dirty="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5" name="Google Shape;45;p16"/>
          <p:cNvSpPr txBox="1">
            <a:spLocks noGrp="1"/>
          </p:cNvSpPr>
          <p:nvPr>
            <p:ph type="subTitle" idx="1"/>
          </p:nvPr>
        </p:nvSpPr>
        <p:spPr>
          <a:xfrm>
            <a:off x="2286000" y="285400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dirty="0"/>
              <a:t>Dashboard Controladoria</a:t>
            </a:r>
            <a:endParaRPr dirty="0"/>
          </a:p>
        </p:txBody>
      </p:sp>
      <p:pic>
        <p:nvPicPr>
          <p:cNvPr id="3" name="Imagem 2" descr="Restaurante com mesas e cadeiras&#10;&#10;Descrição gerada automaticamente">
            <a:extLst>
              <a:ext uri="{FF2B5EF4-FFF2-40B4-BE49-F238E27FC236}">
                <a16:creationId xmlns:a16="http://schemas.microsoft.com/office/drawing/2014/main" id="{7A2531FF-B03F-BC7E-C5DB-6FEF5A830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7E3E"/>
            </a:gs>
            <a:gs pos="74000">
              <a:srgbClr val="C07E3E"/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34C50C69-3934-52CD-11EF-28D6CF91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29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5000">
              <a:srgbClr val="864472"/>
            </a:gs>
            <a:gs pos="60000">
              <a:srgbClr val="C07E3E"/>
            </a:gs>
            <a:gs pos="83000">
              <a:srgbClr val="210C0F"/>
            </a:gs>
            <a:gs pos="89000">
              <a:srgbClr val="03010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93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2;p17">
            <a:extLst>
              <a:ext uri="{FF2B5EF4-FFF2-40B4-BE49-F238E27FC236}">
                <a16:creationId xmlns:a16="http://schemas.microsoft.com/office/drawing/2014/main" id="{2BEAD2B5-62D4-34E5-C692-78F43B4EE3DD}"/>
              </a:ext>
            </a:extLst>
          </p:cNvPr>
          <p:cNvSpPr txBox="1"/>
          <p:nvPr/>
        </p:nvSpPr>
        <p:spPr>
          <a:xfrm>
            <a:off x="501955" y="762337"/>
            <a:ext cx="5841025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6000" b="0" i="0" u="none" strike="noStrike" cap="none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CONTEXTO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93;p17">
            <a:extLst>
              <a:ext uri="{FF2B5EF4-FFF2-40B4-BE49-F238E27FC236}">
                <a16:creationId xmlns:a16="http://schemas.microsoft.com/office/drawing/2014/main" id="{8491FBEA-673C-C84C-C855-8B337057FB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533" y="509022"/>
            <a:ext cx="1526168" cy="10174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0D5989E7-5F16-D8EE-D602-5A48685C172C}"/>
              </a:ext>
            </a:extLst>
          </p:cNvPr>
          <p:cNvSpPr txBox="1"/>
          <p:nvPr/>
        </p:nvSpPr>
        <p:spPr>
          <a:xfrm>
            <a:off x="599440" y="1909902"/>
            <a:ext cx="322072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0" i="0" dirty="0">
                <a:solidFill>
                  <a:srgbClr val="D1D5DB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lang="pt-BR" b="1" i="0" dirty="0" err="1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XPBucks</a:t>
            </a:r>
            <a:r>
              <a:rPr lang="pt-BR" b="0" i="0" dirty="0">
                <a:solidFill>
                  <a:srgbClr val="D1D5DB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com cafeterias em São Paulo, Florianópolis e Rio de Janeiro, oferece um ambiente acolhedor e envolvente aos clientes. Destacando-se na venda de </a:t>
            </a:r>
            <a:r>
              <a:rPr lang="pt-BR" b="1" i="0" dirty="0">
                <a:solidFill>
                  <a:srgbClr val="D1D5DB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cafés premium em grãos</a:t>
            </a:r>
            <a:r>
              <a:rPr lang="pt-BR" b="0" i="0" dirty="0">
                <a:solidFill>
                  <a:srgbClr val="D1D5DB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provenientes de regiões selecionadas, a </a:t>
            </a:r>
            <a:r>
              <a:rPr lang="pt-BR" b="0" i="0" dirty="0" err="1">
                <a:solidFill>
                  <a:srgbClr val="D1D5DB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XPBucks</a:t>
            </a:r>
            <a:r>
              <a:rPr lang="pt-BR" b="0" i="0" dirty="0">
                <a:solidFill>
                  <a:srgbClr val="D1D5DB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também oferece uma variedade de produtos para replicar a experiência em casa. </a:t>
            </a:r>
          </a:p>
          <a:p>
            <a:endParaRPr lang="pt-BR" dirty="0">
              <a:solidFill>
                <a:srgbClr val="D1D5D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b="0" i="0" dirty="0">
                <a:solidFill>
                  <a:srgbClr val="D1D5DB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Além disso, a empresa inova nos </a:t>
            </a:r>
            <a:r>
              <a:rPr lang="pt-BR" b="1" i="0" dirty="0">
                <a:solidFill>
                  <a:srgbClr val="D1D5DB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serviços corporativos</a:t>
            </a:r>
            <a:r>
              <a:rPr lang="pt-BR" b="0" i="0" dirty="0">
                <a:solidFill>
                  <a:srgbClr val="D1D5DB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fornecendo soluções personalizadas para eventos e escritórios, incluindo estações de café personalizadas e programas corporativos. </a:t>
            </a:r>
            <a:endParaRPr lang="pt-BR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17"/>
          <p:cNvGrpSpPr/>
          <p:nvPr/>
        </p:nvGrpSpPr>
        <p:grpSpPr>
          <a:xfrm>
            <a:off x="-253957" y="-254000"/>
            <a:ext cx="12699914" cy="7366000"/>
            <a:chOff x="-253957" y="-254000"/>
            <a:chExt cx="12699914" cy="7366000"/>
          </a:xfrm>
        </p:grpSpPr>
        <p:pic>
          <p:nvPicPr>
            <p:cNvPr id="52" name="Google Shape;52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791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1787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578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3370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54161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4953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5744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6536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7327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8119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8910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9702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0493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1285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76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2868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3659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14451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65242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16034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66825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17617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68408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19200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50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1016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152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2032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2540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304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3556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406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4572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5080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558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6096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660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192000" y="685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17"/>
          <p:cNvSpPr txBox="1"/>
          <p:nvPr/>
        </p:nvSpPr>
        <p:spPr>
          <a:xfrm>
            <a:off x="501955" y="762337"/>
            <a:ext cx="5841025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6000" b="0" i="0" u="none" strike="noStrike" cap="none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DESAFIO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7533" y="509022"/>
            <a:ext cx="1526168" cy="101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4C1E8A6B-6C23-7E3C-C086-EF7AEDE0275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221" r="4290"/>
          <a:stretch/>
        </p:blipFill>
        <p:spPr>
          <a:xfrm>
            <a:off x="3557446" y="825256"/>
            <a:ext cx="8212395" cy="576820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0822BA0-4B6A-CDC2-1101-3C30889C458C}"/>
              </a:ext>
            </a:extLst>
          </p:cNvPr>
          <p:cNvSpPr txBox="1"/>
          <p:nvPr/>
        </p:nvSpPr>
        <p:spPr>
          <a:xfrm>
            <a:off x="535876" y="2159000"/>
            <a:ext cx="23800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Você é um Analista Jr. de Controladoria na </a:t>
            </a:r>
            <a:r>
              <a:rPr lang="pt-BR" b="1" dirty="0" err="1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XPBucks</a:t>
            </a:r>
            <a:r>
              <a:rPr lang="pt-BR" b="1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 acabou de receber a solicitação de um projeto da </a:t>
            </a:r>
            <a:r>
              <a:rPr lang="pt-BR" b="1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Gerente da Controladoria.</a:t>
            </a:r>
            <a:endParaRPr lang="pt-BR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17"/>
          <p:cNvGrpSpPr/>
          <p:nvPr/>
        </p:nvGrpSpPr>
        <p:grpSpPr>
          <a:xfrm>
            <a:off x="-253957" y="-254000"/>
            <a:ext cx="12699914" cy="7366000"/>
            <a:chOff x="-253957" y="-254000"/>
            <a:chExt cx="12699914" cy="7366000"/>
          </a:xfrm>
        </p:grpSpPr>
        <p:pic>
          <p:nvPicPr>
            <p:cNvPr id="52" name="Google Shape;52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791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1787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578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3370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54161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4953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5744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6536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7327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8119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8910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9702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0493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12851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766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2868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3659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14451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65242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16034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66825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17617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684085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192000" y="-25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50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1016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152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2032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2540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304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3556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406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4572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5080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558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6096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6604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53957" y="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192000" y="6858000"/>
              <a:ext cx="253957" cy="254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17"/>
          <p:cNvSpPr txBox="1"/>
          <p:nvPr/>
        </p:nvSpPr>
        <p:spPr>
          <a:xfrm>
            <a:off x="501955" y="762337"/>
            <a:ext cx="5841025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6000" b="0" i="0" u="none" strike="noStrike" cap="none" dirty="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DESAFIO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7533" y="509022"/>
            <a:ext cx="1526168" cy="101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4C1E8A6B-6C23-7E3C-C086-EF7AEDE0275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221" r="4290"/>
          <a:stretch/>
        </p:blipFill>
        <p:spPr>
          <a:xfrm>
            <a:off x="3557446" y="825256"/>
            <a:ext cx="8212395" cy="576820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0822BA0-4B6A-CDC2-1101-3C30889C458C}"/>
              </a:ext>
            </a:extLst>
          </p:cNvPr>
          <p:cNvSpPr txBox="1"/>
          <p:nvPr/>
        </p:nvSpPr>
        <p:spPr>
          <a:xfrm>
            <a:off x="535875" y="2159000"/>
            <a:ext cx="283216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C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Entrega: </a:t>
            </a:r>
            <a:b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Dashboard da Controladoria</a:t>
            </a:r>
            <a:b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b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b="1" dirty="0">
                <a:solidFill>
                  <a:srgbClr val="FFC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Prazo: </a:t>
            </a:r>
            <a:b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11/12/2023</a:t>
            </a:r>
            <a:b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b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b="1" dirty="0">
                <a:solidFill>
                  <a:srgbClr val="FFC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Público-alvo:</a:t>
            </a:r>
            <a:b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Diretoria</a:t>
            </a:r>
            <a:b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b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b="1" dirty="0">
                <a:solidFill>
                  <a:srgbClr val="FFC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Ponto focal: </a:t>
            </a:r>
            <a:b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Sofia</a:t>
            </a:r>
            <a:b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b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b="1" dirty="0">
                <a:solidFill>
                  <a:srgbClr val="FFC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Análises</a:t>
            </a:r>
            <a:r>
              <a:rPr lang="pt-BR" dirty="0">
                <a:solidFill>
                  <a:srgbClr val="FFC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b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DRE, Receita, Despesas, Margem, Resultado Líquido, acompanhamento ao longo do tempo desde 2021, desempenho por filial, comparação com previsão.</a:t>
            </a:r>
            <a:endParaRPr lang="pt-BR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78D56707-4B0E-1A77-2370-805001756E2F}"/>
              </a:ext>
            </a:extLst>
          </p:cNvPr>
          <p:cNvCxnSpPr>
            <a:cxnSpLocks/>
          </p:cNvCxnSpPr>
          <p:nvPr/>
        </p:nvCxnSpPr>
        <p:spPr>
          <a:xfrm>
            <a:off x="7112851" y="3855720"/>
            <a:ext cx="304748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D5DFDC0-117D-2E67-0AA2-D5C34E583EC2}"/>
              </a:ext>
            </a:extLst>
          </p:cNvPr>
          <p:cNvCxnSpPr>
            <a:cxnSpLocks/>
          </p:cNvCxnSpPr>
          <p:nvPr/>
        </p:nvCxnSpPr>
        <p:spPr>
          <a:xfrm>
            <a:off x="7554811" y="4048760"/>
            <a:ext cx="93386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890777A9-DBFA-F2C5-5BB6-36E9FE8AB4FA}"/>
              </a:ext>
            </a:extLst>
          </p:cNvPr>
          <p:cNvCxnSpPr>
            <a:cxnSpLocks/>
          </p:cNvCxnSpPr>
          <p:nvPr/>
        </p:nvCxnSpPr>
        <p:spPr>
          <a:xfrm>
            <a:off x="9299791" y="5163820"/>
            <a:ext cx="78146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4086341-AF63-D061-CF68-B6DCE52D5C34}"/>
              </a:ext>
            </a:extLst>
          </p:cNvPr>
          <p:cNvCxnSpPr>
            <a:cxnSpLocks/>
          </p:cNvCxnSpPr>
          <p:nvPr/>
        </p:nvCxnSpPr>
        <p:spPr>
          <a:xfrm>
            <a:off x="10127819" y="4033520"/>
            <a:ext cx="76391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8BB79008-6A48-A7B2-94FE-576E290BC8FF}"/>
              </a:ext>
            </a:extLst>
          </p:cNvPr>
          <p:cNvCxnSpPr>
            <a:cxnSpLocks/>
          </p:cNvCxnSpPr>
          <p:nvPr/>
        </p:nvCxnSpPr>
        <p:spPr>
          <a:xfrm>
            <a:off x="9563100" y="4340860"/>
            <a:ext cx="148507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DA002686-A3B5-B397-3175-265BC5B8B0D0}"/>
              </a:ext>
            </a:extLst>
          </p:cNvPr>
          <p:cNvCxnSpPr>
            <a:cxnSpLocks/>
          </p:cNvCxnSpPr>
          <p:nvPr/>
        </p:nvCxnSpPr>
        <p:spPr>
          <a:xfrm>
            <a:off x="8128680" y="4503420"/>
            <a:ext cx="117111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31EA9929-B4FD-8538-A4EC-677628A5A775}"/>
              </a:ext>
            </a:extLst>
          </p:cNvPr>
          <p:cNvCxnSpPr>
            <a:cxnSpLocks/>
          </p:cNvCxnSpPr>
          <p:nvPr/>
        </p:nvCxnSpPr>
        <p:spPr>
          <a:xfrm>
            <a:off x="7804701" y="5133340"/>
            <a:ext cx="49347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86FED65B-B1A0-0249-7A70-0CEE0AED772E}"/>
              </a:ext>
            </a:extLst>
          </p:cNvPr>
          <p:cNvCxnSpPr>
            <a:cxnSpLocks/>
          </p:cNvCxnSpPr>
          <p:nvPr/>
        </p:nvCxnSpPr>
        <p:spPr>
          <a:xfrm>
            <a:off x="7844243" y="5311140"/>
            <a:ext cx="49347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12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392</Words>
  <Application>Microsoft Office PowerPoint</Application>
  <PresentationFormat>Widescreen</PresentationFormat>
  <Paragraphs>24</Paragraphs>
  <Slides>6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Bebas Neue</vt:lpstr>
      <vt:lpstr>Poppins</vt:lpstr>
      <vt:lpstr>Simple Light</vt:lpstr>
      <vt:lpstr>BRIEFING do projeto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 DE INTELIGÊNCIA DE NEGÓCIO</dc:title>
  <dc:creator>Sayuri Valente Arimori</dc:creator>
  <cp:lastModifiedBy>Elísio Elis de Moura</cp:lastModifiedBy>
  <cp:revision>9</cp:revision>
  <dcterms:created xsi:type="dcterms:W3CDTF">2022-05-04T20:26:50Z</dcterms:created>
  <dcterms:modified xsi:type="dcterms:W3CDTF">2025-03-08T20:48:55Z</dcterms:modified>
</cp:coreProperties>
</file>